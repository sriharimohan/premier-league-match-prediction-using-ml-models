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220665-ABA1-4D79-917E-E3183DCB9201}">
  <a:tblStyle styleId="{C0220665-ABA1-4D79-917E-E3183DCB92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ba8f91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9ba8f91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ba8f91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ba8f91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ba8f916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ba8f916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9ba8f916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9ba8f916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9ba8f916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9ba8f916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ba8f916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ba8f916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ba8f916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ba8f91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ba8f916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ba8f916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ba8f916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ba8f916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riharimohan/Premier-League-Match-Prediction-using-ML-Models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i.org/10.1111/j.1467-9574.1982.tb00782.x" TargetMode="External"/><Relationship Id="rId4" Type="http://schemas.openxmlformats.org/officeDocument/2006/relationships/hyperlink" Target="https://doi.org/10.1111/j.1467-9574.1982.tb00782.x" TargetMode="External"/><Relationship Id="rId5" Type="http://schemas.openxmlformats.org/officeDocument/2006/relationships/hyperlink" Target="https://doi.org/10.1016/j.ijforecast.2018.01.003" TargetMode="External"/><Relationship Id="rId6" Type="http://schemas.openxmlformats.org/officeDocument/2006/relationships/hyperlink" Target="https://doi.org/10.1016/j.ijforecast.2018.01.003" TargetMode="External"/><Relationship Id="rId7" Type="http://schemas.openxmlformats.org/officeDocument/2006/relationships/hyperlink" Target="https://www.google.com/search?q=https://doi.org/10.5392/IJoC.2014.10.4.046" TargetMode="External"/><Relationship Id="rId8" Type="http://schemas.openxmlformats.org/officeDocument/2006/relationships/hyperlink" Target="https://www.google.com/search?q=https://doi.org/10.5392/IJoC.2014.10.4.0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913050" y="1805400"/>
            <a:ext cx="5947500" cy="153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Predicting Premier League Match Outcomes using Machine Learning</a:t>
            </a:r>
            <a:r>
              <a:rPr lang="en" sz="3000"/>
              <a:t>.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13050" y="3866400"/>
            <a:ext cx="73179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Srihari Mohan</a:t>
            </a:r>
            <a:r>
              <a:rPr lang="en" sz="1800">
                <a:solidFill>
                  <a:srgbClr val="000000"/>
                </a:solidFill>
              </a:rPr>
              <a:t> - 23069726 -</a:t>
            </a:r>
            <a:r>
              <a:rPr lang="en" sz="1800">
                <a:solidFill>
                  <a:srgbClr val="434343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M.Sc Data Science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Supervisor - Ralf Napiwotzki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56" name="Google Shape;56;p13" title="University-of-Hertfordshire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575" y="0"/>
            <a:ext cx="2936950" cy="166350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167625" y="4250075"/>
            <a:ext cx="29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&amp; Objectives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Research Question</a:t>
            </a:r>
            <a:r>
              <a:rPr lang="en">
                <a:solidFill>
                  <a:srgbClr val="000000"/>
                </a:solidFill>
              </a:rPr>
              <a:t>: To what extent can Machine Learning predict match outcomes of English Premier League matches using historical match statistics? And which performance metrics are the most significant predictors of success?.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Objectives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Review of existing research in football analytics &amp; match outcome prediction.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Collect, Clean &amp; derive features from the dataset.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Develop, Train &amp; Optimise the best of three models.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Evaluate &amp; compare models predictive performance using metrics beyond simple accuracy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Interpret the best performing model to identify and analyse the key outcomes.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&amp; Preprocessing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Dataset: </a:t>
            </a:r>
            <a:r>
              <a:rPr lang="en">
                <a:solidFill>
                  <a:srgbClr val="000000"/>
                </a:solidFill>
              </a:rPr>
              <a:t>“England CSV” (12,000+ matches). Kaggle source. Includes Goals, Shots, Fouls, Corners, etc data (1993-2025) of EPL.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Ethics: </a:t>
            </a:r>
            <a:r>
              <a:rPr lang="en">
                <a:solidFill>
                  <a:srgbClr val="000000"/>
                </a:solidFill>
              </a:rPr>
              <a:t>It follows all the university ethics and approved by the supervisor.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Preprocessing: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Dropped</a:t>
            </a:r>
            <a:r>
              <a:rPr lang="en">
                <a:solidFill>
                  <a:srgbClr val="000000"/>
                </a:solidFill>
              </a:rPr>
              <a:t> rows with missing stats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Excluded team names to prevent historical bias, included only required </a:t>
            </a:r>
            <a:r>
              <a:rPr lang="en">
                <a:solidFill>
                  <a:srgbClr val="000000"/>
                </a:solidFill>
              </a:rPr>
              <a:t>columns for the analysis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Created different stats as features (e.g., </a:t>
            </a:r>
            <a:r>
              <a:rPr i="1" lang="en" u="sng">
                <a:solidFill>
                  <a:srgbClr val="000000"/>
                </a:solidFill>
              </a:rPr>
              <a:t>ShotsonTargetDiff</a:t>
            </a:r>
            <a:r>
              <a:rPr i="1" lang="en">
                <a:solidFill>
                  <a:srgbClr val="000000"/>
                </a:solidFill>
              </a:rPr>
              <a:t>, </a:t>
            </a:r>
            <a:r>
              <a:rPr i="1" lang="en" u="sng">
                <a:solidFill>
                  <a:srgbClr val="000000"/>
                </a:solidFill>
              </a:rPr>
              <a:t>RedDiff</a:t>
            </a:r>
            <a:r>
              <a:rPr lang="en">
                <a:solidFill>
                  <a:srgbClr val="000000"/>
                </a:solidFill>
              </a:rPr>
              <a:t>, etc.)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Converted Target variable </a:t>
            </a:r>
            <a:r>
              <a:rPr i="1" lang="en" u="sng">
                <a:solidFill>
                  <a:srgbClr val="000000"/>
                </a:solidFill>
              </a:rPr>
              <a:t>Results</a:t>
            </a:r>
            <a:r>
              <a:rPr lang="en">
                <a:solidFill>
                  <a:srgbClr val="000000"/>
                </a:solidFill>
              </a:rPr>
              <a:t>(Home, Draw, Away) to numbers(0,1, 2).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Exploratory Data Analysis to understand the data. In this correlation matrix, the feature </a:t>
            </a:r>
            <a:r>
              <a:rPr b="1" lang="en">
                <a:solidFill>
                  <a:srgbClr val="000000"/>
                </a:solidFill>
              </a:rPr>
              <a:t>'</a:t>
            </a:r>
            <a:r>
              <a:rPr b="1" i="1" lang="en">
                <a:solidFill>
                  <a:srgbClr val="000000"/>
                </a:solidFill>
              </a:rPr>
              <a:t>Shots on Target Difference</a:t>
            </a:r>
            <a:r>
              <a:rPr b="1" lang="en">
                <a:solidFill>
                  <a:srgbClr val="000000"/>
                </a:solidFill>
              </a:rPr>
              <a:t>'</a:t>
            </a:r>
            <a:r>
              <a:rPr lang="en">
                <a:solidFill>
                  <a:srgbClr val="000000"/>
                </a:solidFill>
              </a:rPr>
              <a:t> has the strongest correlation with the result.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This scientifically justifies why it is the most important input for my model. Features like '</a:t>
            </a:r>
            <a:r>
              <a:rPr i="1" lang="en">
                <a:solidFill>
                  <a:srgbClr val="000000"/>
                </a:solidFill>
              </a:rPr>
              <a:t>Fouls Difference</a:t>
            </a:r>
            <a:r>
              <a:rPr lang="en">
                <a:solidFill>
                  <a:srgbClr val="000000"/>
                </a:solidFill>
              </a:rPr>
              <a:t>' had very low correlation, suggesting they are less predictive."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76" name="Google Shape;76;p16" title="Screenshot 2025-11-26 0117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150" y="1209713"/>
            <a:ext cx="4108149" cy="27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Models Tested</a:t>
            </a:r>
            <a:r>
              <a:rPr lang="en">
                <a:solidFill>
                  <a:srgbClr val="000000"/>
                </a:solidFill>
              </a:rPr>
              <a:t>: Logistic Regression, Random Forest and XGBoost.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Performance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Key Takeaway</a:t>
            </a:r>
            <a:r>
              <a:rPr lang="en">
                <a:solidFill>
                  <a:srgbClr val="000000"/>
                </a:solidFill>
              </a:rPr>
              <a:t>: The simpler linear model outperformed complex tree-based models, suggesting linear relationships are dominant in this data.</a:t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485250" y="206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{C0220665-ABA1-4D79-917E-E3183DCB9201}</a:tableStyleId>
              </a:tblPr>
              <a:tblGrid>
                <a:gridCol w="2766250"/>
                <a:gridCol w="1439650"/>
              </a:tblGrid>
              <a:tr h="32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 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Score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2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~56%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~52%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~55%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4" name="Google Shape;84;p17" title="Screenshot 2025-11-25 2147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800" y="2393350"/>
            <a:ext cx="3913500" cy="9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Process</a:t>
            </a:r>
            <a:r>
              <a:rPr lang="en" sz="1500">
                <a:solidFill>
                  <a:srgbClr val="000000"/>
                </a:solidFill>
              </a:rPr>
              <a:t>: Used GridSearchCV to tune the model.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Model Selected</a:t>
            </a:r>
            <a:r>
              <a:rPr lang="en" sz="1500">
                <a:solidFill>
                  <a:srgbClr val="000000"/>
                </a:solidFill>
              </a:rPr>
              <a:t>: Logistic Regression was selected as it outperformed complex tree-based models initially.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00000"/>
                </a:solidFill>
              </a:rPr>
              <a:t>Parameters Tuned: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C </a:t>
            </a:r>
            <a:r>
              <a:rPr b="1" lang="en" sz="1500">
                <a:solidFill>
                  <a:srgbClr val="000000"/>
                </a:solidFill>
              </a:rPr>
              <a:t>(Regularization):</a:t>
            </a:r>
            <a:r>
              <a:rPr lang="en" sz="1500">
                <a:solidFill>
                  <a:srgbClr val="000000"/>
                </a:solidFill>
              </a:rPr>
              <a:t> To control overfitting vs. underfitting.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solver:</a:t>
            </a:r>
            <a:r>
              <a:rPr lang="en" sz="1500">
                <a:solidFill>
                  <a:srgbClr val="000000"/>
                </a:solidFill>
              </a:rPr>
              <a:t> Tested 'lbfgs' vs 'liblinear' for mathematical convergence.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00000"/>
                </a:solidFill>
              </a:rPr>
              <a:t>Result:</a:t>
            </a:r>
            <a:r>
              <a:rPr lang="en" sz="1500">
                <a:solidFill>
                  <a:srgbClr val="000000"/>
                </a:solidFill>
              </a:rPr>
              <a:t> The grid search identified C=0.01 as the optimal setting, improving generalisation on unseen data.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1" name="Google Shape;91;p18" title="Screenshot 2025-11-25 2147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212" y="3699650"/>
            <a:ext cx="3591575" cy="8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518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00"/>
                </a:solidFill>
              </a:rPr>
              <a:t>Key Metrics: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Final Accuracy: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56%</a:t>
            </a:r>
            <a:r>
              <a:rPr lang="en">
                <a:solidFill>
                  <a:srgbClr val="000000"/>
                </a:solidFill>
              </a:rPr>
              <a:t> (vs. Random Chance of 33%).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Precision:</a:t>
            </a:r>
            <a:r>
              <a:rPr lang="en">
                <a:solidFill>
                  <a:srgbClr val="000000"/>
                </a:solidFill>
              </a:rPr>
              <a:t> High for Home Wins, Low for Draws.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Observation:</a:t>
            </a:r>
            <a:r>
              <a:rPr lang="en">
                <a:solidFill>
                  <a:srgbClr val="000000"/>
                </a:solidFill>
              </a:rPr>
              <a:t> The model effectively predicts wins/losses but struggles with Draws (the "Stochastic" element of football).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8" name="Google Shape;98;p19" title="Screenshot 2025-11-25 2206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475" y="445019"/>
            <a:ext cx="3171825" cy="232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Screenshot 2025-11-25 2207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9949" y="3318675"/>
            <a:ext cx="2792876" cy="12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09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00000"/>
                </a:solidFill>
              </a:rPr>
              <a:t>Critical Analysis: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#1 Predictor: </a:t>
            </a:r>
            <a:r>
              <a:rPr i="1" lang="en" sz="1500">
                <a:solidFill>
                  <a:srgbClr val="000000"/>
                </a:solidFill>
              </a:rPr>
              <a:t>ShotsOnTargetDiff</a:t>
            </a:r>
            <a:r>
              <a:rPr lang="en" sz="1500">
                <a:solidFill>
                  <a:srgbClr val="000000"/>
                </a:solidFill>
              </a:rPr>
              <a:t> (Positive Coefficient) – Proves that offensive efficiency is the biggest driver of wins.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Negative Driver:</a:t>
            </a:r>
            <a:r>
              <a:rPr lang="en" sz="1500">
                <a:solidFill>
                  <a:srgbClr val="000000"/>
                </a:solidFill>
              </a:rPr>
              <a:t> </a:t>
            </a:r>
            <a:r>
              <a:rPr i="1" lang="en" sz="1500">
                <a:solidFill>
                  <a:srgbClr val="000000"/>
                </a:solidFill>
              </a:rPr>
              <a:t>RedCardDiff</a:t>
            </a:r>
            <a:r>
              <a:rPr lang="en" sz="1500">
                <a:solidFill>
                  <a:srgbClr val="000000"/>
                </a:solidFill>
              </a:rPr>
              <a:t> – Getting a red card significantly penalises chances.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Noise:</a:t>
            </a:r>
            <a:r>
              <a:rPr lang="en" sz="1500">
                <a:solidFill>
                  <a:srgbClr val="000000"/>
                </a:solidFill>
              </a:rPr>
              <a:t> </a:t>
            </a:r>
            <a:r>
              <a:rPr i="1" lang="en" sz="1500">
                <a:solidFill>
                  <a:srgbClr val="000000"/>
                </a:solidFill>
              </a:rPr>
              <a:t>FoulsDiff</a:t>
            </a:r>
            <a:r>
              <a:rPr lang="en" sz="1500">
                <a:solidFill>
                  <a:srgbClr val="000000"/>
                </a:solidFill>
              </a:rPr>
              <a:t> had low importance, suggesting aggressive play does not guarantee wins.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06" name="Google Shape;106;p20" title="Screenshot 2025-11-25 2208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300" y="1750775"/>
            <a:ext cx="4099000" cy="240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</a:rPr>
              <a:t>Simple linear models</a:t>
            </a:r>
            <a:r>
              <a:rPr lang="en">
                <a:solidFill>
                  <a:srgbClr val="000000"/>
                </a:solidFill>
              </a:rPr>
              <a:t> (Logistic Regression) outperformed complex ones (XGBoost) for this dataset. Match outcomes are ~56% predictable based on stats; the rest is luck/human factors.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Limitations: </a:t>
            </a:r>
            <a:r>
              <a:rPr lang="en">
                <a:solidFill>
                  <a:srgbClr val="000000"/>
                </a:solidFill>
              </a:rPr>
              <a:t>Current model uses </a:t>
            </a:r>
            <a:r>
              <a:rPr b="1" lang="en">
                <a:solidFill>
                  <a:srgbClr val="000000"/>
                </a:solidFill>
              </a:rPr>
              <a:t>post-match</a:t>
            </a:r>
            <a:r>
              <a:rPr lang="en">
                <a:solidFill>
                  <a:srgbClr val="000000"/>
                </a:solidFill>
              </a:rPr>
              <a:t> statistics.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00"/>
                </a:solidFill>
              </a:rPr>
              <a:t>Future Work: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Implement </a:t>
            </a:r>
            <a:r>
              <a:rPr b="1" lang="en">
                <a:solidFill>
                  <a:srgbClr val="000000"/>
                </a:solidFill>
              </a:rPr>
              <a:t>Rolling Averages</a:t>
            </a:r>
            <a:r>
              <a:rPr lang="en">
                <a:solidFill>
                  <a:srgbClr val="000000"/>
                </a:solidFill>
              </a:rPr>
              <a:t> (Team Form) to allow for pre-match forecasting.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Integrate Player-level data (injuries/lineups).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Reference 1 (The Classic Statistical Model):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00">
                <a:solidFill>
                  <a:schemeClr val="dk1"/>
                </a:solidFill>
              </a:rPr>
              <a:t>Maher, M.J., (1982), ‘Modelling association football scores’, </a:t>
            </a:r>
            <a:r>
              <a:rPr i="1" lang="en" sz="1300">
                <a:solidFill>
                  <a:schemeClr val="dk1"/>
                </a:solidFill>
              </a:rPr>
              <a:t>Statistica Neerlandica</a:t>
            </a:r>
            <a:r>
              <a:rPr lang="en" sz="1300">
                <a:solidFill>
                  <a:schemeClr val="dk1"/>
                </a:solidFill>
              </a:rPr>
              <a:t>, 36(3), pp. 109-118. (Available at:</a:t>
            </a:r>
            <a:r>
              <a:rPr lang="en" sz="13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https://doi.org/10.1111/j.1467-9574.1982.tb00782.x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Reference 2 (Machine Learning specific - use this for XGBoost/Random Forest):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00">
                <a:solidFill>
                  <a:schemeClr val="dk1"/>
                </a:solidFill>
              </a:rPr>
              <a:t>Baboota, R. and Kaur, H., (2019), ‘Predictive analysis and modelling football results using machine learning approach for English Premier League’, </a:t>
            </a:r>
            <a:r>
              <a:rPr i="1" lang="en" sz="1300">
                <a:solidFill>
                  <a:schemeClr val="dk1"/>
                </a:solidFill>
              </a:rPr>
              <a:t>International Journal of Forecasting</a:t>
            </a:r>
            <a:r>
              <a:rPr lang="en" sz="1300">
                <a:solidFill>
                  <a:schemeClr val="dk1"/>
                </a:solidFill>
              </a:rPr>
              <a:t>, 35(2), pp. 741-755. (Available at:</a:t>
            </a:r>
            <a:r>
              <a:rPr lang="en" sz="13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300" u="sng">
                <a:solidFill>
                  <a:schemeClr val="hlink"/>
                </a:solidFill>
                <a:hlinkClick r:id="rId6"/>
              </a:rPr>
              <a:t>https://doi.org/10.1016/j.ijforecast.2018.01.003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Reference 3 (Comparing Models):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00">
                <a:solidFill>
                  <a:schemeClr val="dk1"/>
                </a:solidFill>
              </a:rPr>
              <a:t>Shin, J. and Gasparyan, R., (2014), ‘A novel way to soccer match prediction’, </a:t>
            </a:r>
            <a:r>
              <a:rPr i="1" lang="en" sz="1300">
                <a:solidFill>
                  <a:schemeClr val="dk1"/>
                </a:solidFill>
              </a:rPr>
              <a:t>International Journal of Contents</a:t>
            </a:r>
            <a:r>
              <a:rPr lang="en" sz="1300">
                <a:solidFill>
                  <a:schemeClr val="dk1"/>
                </a:solidFill>
              </a:rPr>
              <a:t>, 10(4), pp. 46-51. (Available at:</a:t>
            </a:r>
            <a:r>
              <a:rPr lang="en" sz="13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300" u="sng">
                <a:solidFill>
                  <a:schemeClr val="hlink"/>
                </a:solidFill>
                <a:hlinkClick r:id="rId8"/>
              </a:rPr>
              <a:t>https://doi.org/10.5392/IJoC.2014.10.4.046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